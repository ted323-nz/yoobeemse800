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C6644"/>
          </a:solidFill>
          <a:ln w="12700">
            <a:solidFill>
              <a:srgbClr val="9C66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D7CC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73952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MSE803 Data Analytics · Week 2 Activity 2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40080"/>
            <a:ext cx="4846320" cy="4937760"/>
          </a:xfrm>
          <a:prstGeom prst="roundRect">
            <a:avLst>
              <a:gd name="adj" fmla="val 1132"/>
            </a:avLst>
          </a:prstGeom>
          <a:solidFill>
            <a:srgbClr val="FFF9F1"/>
          </a:solidFill>
          <a:ln w="12700">
            <a:solidFill>
              <a:srgbClr val="D7CC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00584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Beijing Multi-Site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223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Air Quality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2402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6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Activity 2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9C6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Statistical analysis story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06324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presentation continues Week 2 Activity 1 and turns the statistical analysis into a short insight-led story.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4251960"/>
            <a:ext cx="1325880" cy="713232"/>
          </a:xfrm>
          <a:prstGeom prst="roundRect">
            <a:avLst>
              <a:gd name="adj" fmla="val 6410"/>
            </a:avLst>
          </a:prstGeom>
          <a:solidFill>
            <a:srgbClr val="F1DFCF"/>
          </a:solidFill>
          <a:ln w="12700">
            <a:solidFill>
              <a:srgbClr val="9C66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4379976"/>
            <a:ext cx="11064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4128" y="4562856"/>
            <a:ext cx="1106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3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420,768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377440" y="4251960"/>
            <a:ext cx="1143000" cy="713232"/>
          </a:xfrm>
          <a:prstGeom prst="roundRect">
            <a:avLst>
              <a:gd name="adj" fmla="val 6410"/>
            </a:avLst>
          </a:prstGeom>
          <a:solidFill>
            <a:srgbClr val="D9EAF7"/>
          </a:solidFill>
          <a:ln w="12700">
            <a:solidFill>
              <a:srgbClr val="3F88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87168" y="4379976"/>
            <a:ext cx="923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87168" y="4562856"/>
            <a:ext cx="923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3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57600" y="4251960"/>
            <a:ext cx="1143000" cy="713232"/>
          </a:xfrm>
          <a:prstGeom prst="roundRect">
            <a:avLst>
              <a:gd name="adj" fmla="val 6410"/>
            </a:avLst>
          </a:prstGeom>
          <a:solidFill>
            <a:srgbClr val="E7E5D8"/>
          </a:solidFill>
          <a:ln w="12700">
            <a:solidFill>
              <a:srgbClr val="6B70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67328" y="4379976"/>
            <a:ext cx="923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67328" y="4562856"/>
            <a:ext cx="923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3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2-6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897880" y="749808"/>
            <a:ext cx="5486400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12700">
            <a:solidFill>
              <a:srgbClr val="D7CCBC"/>
            </a:solidFill>
            <a:prstDash val="solid"/>
          </a:ln>
        </p:spPr>
      </p:sp>
      <p:pic>
        <p:nvPicPr>
          <p:cNvPr id="16" name="Image 0" descr="/Users/ginoted/Documents/GitHub/MSE803DataAnalytics/Week02/W2-A2/figures/monthly_pm25_o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1032" y="1834614"/>
            <a:ext cx="5340096" cy="2393245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989320" y="5349240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Seasonal contrast between PM2.5 and O3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96112" y="52120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Weizhao Tan · MSE803 Data Analytics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1292840" y="647395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6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3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structure and Task 2-6 workflow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078992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Blackboard task wording was not locally available, so the analysis follows a standard statistical sequence.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657600" cy="2331720"/>
          </a:xfrm>
          <a:prstGeom prst="roundRect">
            <a:avLst>
              <a:gd name="adj" fmla="val 1961"/>
            </a:avLst>
          </a:prstGeom>
          <a:solidFill>
            <a:srgbClr val="FFF9F1"/>
          </a:solidFill>
          <a:ln w="12700">
            <a:solidFill>
              <a:srgbClr val="D7CC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755648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structure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77824" y="2011680"/>
            <a:ext cx="336499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Outer ZIP: beijing+multi+site+air+quality+data.zip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Nested ZIP: PRSA2017_Data_20130301-20170228.zip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station CSV files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columns per hourly record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values recorded as NA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645920"/>
            <a:ext cx="1828800" cy="2331720"/>
          </a:xfrm>
          <a:prstGeom prst="roundRect">
            <a:avLst>
              <a:gd name="adj" fmla="val 2500"/>
            </a:avLst>
          </a:prstGeom>
          <a:solidFill>
            <a:srgbClr val="F1DFCF"/>
          </a:solidFill>
          <a:ln w="12700">
            <a:solidFill>
              <a:srgbClr val="D7CC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9744" y="1755648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09744" y="2011680"/>
            <a:ext cx="153619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missing values and identify data quality risks.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720840" y="1645920"/>
            <a:ext cx="1828800" cy="2331720"/>
          </a:xfrm>
          <a:prstGeom prst="roundRect">
            <a:avLst>
              <a:gd name="adj" fmla="val 2500"/>
            </a:avLst>
          </a:prstGeom>
          <a:solidFill>
            <a:srgbClr val="D9EAF7"/>
          </a:solidFill>
          <a:ln w="12700">
            <a:solidFill>
              <a:srgbClr val="D7CC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67144" y="1755648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67144" y="2011680"/>
            <a:ext cx="153619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Summarise the main pollutant and weather variables.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778240" y="1645920"/>
            <a:ext cx="1828800" cy="2331720"/>
          </a:xfrm>
          <a:prstGeom prst="roundRect">
            <a:avLst>
              <a:gd name="adj" fmla="val 2500"/>
            </a:avLst>
          </a:prstGeom>
          <a:solidFill>
            <a:srgbClr val="E7E5D8"/>
          </a:solidFill>
          <a:ln w="12700">
            <a:solidFill>
              <a:srgbClr val="D7CC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24544" y="1755648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924544" y="2011680"/>
            <a:ext cx="153619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monthly and hourly pollution patterns.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4206240"/>
            <a:ext cx="1828800" cy="1417320"/>
          </a:xfrm>
          <a:prstGeom prst="roundRect">
            <a:avLst>
              <a:gd name="adj" fmla="val 3226"/>
            </a:avLst>
          </a:prstGeom>
          <a:solidFill>
            <a:srgbClr val="FFF9F1"/>
          </a:solidFill>
          <a:ln w="12700">
            <a:solidFill>
              <a:srgbClr val="D7CCB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9744" y="4315968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09744" y="4572000"/>
            <a:ext cx="15361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pollutant and weather correlations.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720840" y="4206240"/>
            <a:ext cx="1828800" cy="1417320"/>
          </a:xfrm>
          <a:prstGeom prst="roundRect">
            <a:avLst>
              <a:gd name="adj" fmla="val 3226"/>
            </a:avLst>
          </a:prstGeom>
          <a:solidFill>
            <a:srgbClr val="FFF9F1"/>
          </a:solidFill>
          <a:ln w="12700">
            <a:solidFill>
              <a:srgbClr val="D7CCB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67144" y="4315968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67144" y="4572000"/>
            <a:ext cx="15361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stations and turn results into insights.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778240" y="4206240"/>
            <a:ext cx="1828800" cy="1417320"/>
          </a:xfrm>
          <a:prstGeom prst="roundRect">
            <a:avLst>
              <a:gd name="adj" fmla="val 3226"/>
            </a:avLst>
          </a:prstGeom>
          <a:solidFill>
            <a:srgbClr val="FFF9F1"/>
          </a:solidFill>
          <a:ln w="12700">
            <a:solidFill>
              <a:srgbClr val="D7CCB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24544" y="4315968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924544" y="4572000"/>
            <a:ext cx="15361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Code, results, PPT, and a short talk script ready for GitHub.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292840" y="647395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6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3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2 and Task 3: data quality and descriptive statistics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078992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step was checking which variables were most incomplete before interpreting the averages.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5669280" cy="4297680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12700">
            <a:solidFill>
              <a:srgbClr val="D7CCBC"/>
            </a:solidFill>
            <a:prstDash val="solid"/>
          </a:ln>
        </p:spPr>
      </p:sp>
      <p:pic>
        <p:nvPicPr>
          <p:cNvPr id="6" name="Image 0" descr="/Users/ginoted/Documents/GitHub/MSE803DataAnalytics/Week02/W2-A2/figures/missing_rate_by_colum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484705"/>
            <a:ext cx="5522976" cy="247380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5788152"/>
            <a:ext cx="5486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values are concentrated in pollutant variables, not the date fields.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720840" y="1828800"/>
            <a:ext cx="466344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 had the highest missing rate at 4.92%.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missing-value pattern is small enough to continue with descriptive analysis, but it should be acknowledged.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PM2.5 was 79.79 and average PM10 was 104.60, showing a generally polluted dataset.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median values are lower than the means for several pollutants, which suggests right-skewed pollution spikes.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720840" y="4572000"/>
            <a:ext cx="2194560" cy="1051560"/>
          </a:xfrm>
          <a:prstGeom prst="roundRect">
            <a:avLst>
              <a:gd name="adj" fmla="val 4348"/>
            </a:avLst>
          </a:prstGeom>
          <a:solidFill>
            <a:srgbClr val="F1DFCF"/>
          </a:solidFill>
          <a:ln w="12700">
            <a:solidFill>
              <a:srgbClr val="D7CCB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67144" y="4681728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PM2.5 mean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67144" y="4937760"/>
            <a:ext cx="1901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79.79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144000" y="4572000"/>
            <a:ext cx="2194560" cy="1051560"/>
          </a:xfrm>
          <a:prstGeom prst="roundRect">
            <a:avLst>
              <a:gd name="adj" fmla="val 4348"/>
            </a:avLst>
          </a:prstGeom>
          <a:solidFill>
            <a:srgbClr val="D9EAF7"/>
          </a:solidFill>
          <a:ln w="12700">
            <a:solidFill>
              <a:srgbClr val="D7CCB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290304" y="4681728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PM10 mean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290304" y="4937760"/>
            <a:ext cx="1901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104.60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1292840" y="647395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6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SEASONALITY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3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4: monthly pollution patterns tell the main story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078992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 shows a strong seasonal contrast: PM2.5 is worst in winter while O3 rises in summer.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6583680" cy="4389120"/>
          </a:xfrm>
          <a:prstGeom prst="roundRect">
            <a:avLst>
              <a:gd name="adj" fmla="val 1042"/>
            </a:avLst>
          </a:prstGeom>
          <a:solidFill>
            <a:srgbClr val="FFFFFF"/>
          </a:solidFill>
          <a:ln w="12700">
            <a:solidFill>
              <a:srgbClr val="D7CCBC"/>
            </a:solidFill>
            <a:prstDash val="solid"/>
          </a:ln>
        </p:spPr>
      </p:sp>
      <p:pic>
        <p:nvPicPr>
          <p:cNvPr id="6" name="Image 0" descr="/Users/ginoted/Documents/GitHub/MSE803DataAnalytics/Week02/W2-A2/figures/monthly_pm25_o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324824"/>
            <a:ext cx="6437376" cy="28850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5879592"/>
            <a:ext cx="6400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December is the PM2.5 peak month and July is the O3 peak month.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635240" y="1828800"/>
            <a:ext cx="3474720" cy="1051560"/>
          </a:xfrm>
          <a:prstGeom prst="roundRect">
            <a:avLst>
              <a:gd name="adj" fmla="val 4348"/>
            </a:avLst>
          </a:prstGeom>
          <a:solidFill>
            <a:srgbClr val="F1DFCF"/>
          </a:solidFill>
          <a:ln w="12700">
            <a:solidFill>
              <a:srgbClr val="D7CCB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81544" y="1938528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Peak PM2.5 month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81544" y="2194560"/>
            <a:ext cx="3182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 · 104.58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635240" y="3108960"/>
            <a:ext cx="3474720" cy="1051560"/>
          </a:xfrm>
          <a:prstGeom prst="roundRect">
            <a:avLst>
              <a:gd name="adj" fmla="val 4348"/>
            </a:avLst>
          </a:prstGeom>
          <a:solidFill>
            <a:srgbClr val="D9EAF7"/>
          </a:solidFill>
          <a:ln w="12700">
            <a:solidFill>
              <a:srgbClr val="D7CCB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81544" y="3218688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Peak O3 month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781544" y="3474720"/>
            <a:ext cx="3182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 · 95.09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635240" y="4526280"/>
            <a:ext cx="38404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Cold-season PM2.5 suggests heavier particulate pollution in late autumn and winter.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Warm-season O3 suggests stronger photochemical activity during summer.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matters because one single mitigation strategy will not work equally well for all pollutants.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292840" y="647395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6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3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4 and Task 5: hourly cycle and pollutant relationships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078992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timing and pairwise correlations help explain which variables move together.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5303520" cy="4206240"/>
          </a:xfrm>
          <a:prstGeom prst="roundRect">
            <a:avLst>
              <a:gd name="adj" fmla="val 1087"/>
            </a:avLst>
          </a:prstGeom>
          <a:solidFill>
            <a:srgbClr val="FFFFFF"/>
          </a:solidFill>
          <a:ln w="12700">
            <a:solidFill>
              <a:srgbClr val="D7CCBC"/>
            </a:solidFill>
            <a:prstDash val="solid"/>
          </a:ln>
        </p:spPr>
      </p:sp>
      <p:pic>
        <p:nvPicPr>
          <p:cNvPr id="6" name="Image 0" descr="/Users/ginoted/Documents/GitHub/MSE803DataAnalytics/Week02/W2-A2/figures/hourly_pm25_o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565966"/>
            <a:ext cx="5157216" cy="23112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5742432"/>
            <a:ext cx="5120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PM2.5 peaks at 22:00 while O3 peaks at 16:00.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355080" y="1737360"/>
            <a:ext cx="4983480" cy="4206240"/>
          </a:xfrm>
          <a:prstGeom prst="roundRect">
            <a:avLst>
              <a:gd name="adj" fmla="val 1087"/>
            </a:avLst>
          </a:prstGeom>
          <a:solidFill>
            <a:srgbClr val="FFFFFF"/>
          </a:solidFill>
          <a:ln w="12700">
            <a:solidFill>
              <a:srgbClr val="D7CCBC"/>
            </a:solidFill>
            <a:prstDash val="solid"/>
          </a:ln>
        </p:spPr>
      </p:sp>
      <p:pic>
        <p:nvPicPr>
          <p:cNvPr id="9" name="Image 1" descr="/Users/ginoted/Documents/GitHub/MSE803DataAnalytics/Week02/W2-A2/figures/correlation_heat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7599" y="1810512"/>
            <a:ext cx="4338442" cy="38221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46520" y="5742432"/>
            <a:ext cx="4800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PM2.5 is strongly linked to PM10 and moderately opposed to wind speed.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868680" y="610819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PM2.5 strongest positive correlation: PM10 (0.88)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6473952" y="61081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PM2.5 strongest negative correlation: WSPM (-0.27)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11292840" y="647395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6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3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6: station comparison and final interpretation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078992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Comparing station averages shows where particulate pollution was consistently higher across the whole dataset.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5669280" cy="4389120"/>
          </a:xfrm>
          <a:prstGeom prst="roundRect">
            <a:avLst>
              <a:gd name="adj" fmla="val 1042"/>
            </a:avLst>
          </a:prstGeom>
          <a:solidFill>
            <a:srgbClr val="FFFFFF"/>
          </a:solidFill>
          <a:ln w="12700">
            <a:solidFill>
              <a:srgbClr val="D7CCBC"/>
            </a:solidFill>
            <a:prstDash val="solid"/>
          </a:ln>
        </p:spPr>
      </p:sp>
      <p:pic>
        <p:nvPicPr>
          <p:cNvPr id="6" name="Image 0" descr="/Users/ginoted/Documents/GitHub/MSE803DataAnalytics/Week02/W2-A2/figures/station_pm25_ran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321414"/>
            <a:ext cx="5522976" cy="29832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5925312"/>
            <a:ext cx="5486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Dongsi has the highest average PM2.5 and Dingling the lowest.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720840" y="1828800"/>
            <a:ext cx="457200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Dongsi had the highest average PM2.5 at 86.19.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Dingling had the lowest average PM2.5 at 65.99.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combined evidence supports a story of winter particulate pollution, summer ozone peaks, and cleaner conditions when wind speed is stronger.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gives a clear presentation narrative for a short 3-minute explanation.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720840" y="4572000"/>
            <a:ext cx="4572000" cy="1051560"/>
          </a:xfrm>
          <a:prstGeom prst="roundRect">
            <a:avLst>
              <a:gd name="adj" fmla="val 4348"/>
            </a:avLst>
          </a:prstGeom>
          <a:solidFill>
            <a:srgbClr val="E7E5D8"/>
          </a:solidFill>
          <a:ln w="12700">
            <a:solidFill>
              <a:srgbClr val="D7CCB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67144" y="4681728"/>
            <a:ext cx="4279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GitHub folder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67144" y="4937760"/>
            <a:ext cx="4279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https://github.com/Ted323-NZ/YoobeeMSE800/tree/codex/mse803-week02-w2-a2/MSE803DataAnalytics/Week02/W2-A2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720840" y="5715000"/>
            <a:ext cx="4572000" cy="502920"/>
          </a:xfrm>
          <a:prstGeom prst="roundRect">
            <a:avLst>
              <a:gd name="adj" fmla="val 9091"/>
            </a:avLst>
          </a:prstGeom>
          <a:solidFill>
            <a:srgbClr val="FFF9F1"/>
          </a:solidFill>
          <a:ln w="12700">
            <a:solidFill>
              <a:srgbClr val="D7CCB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67144" y="5824728"/>
            <a:ext cx="4279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Deliverables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67144" y="6080760"/>
            <a:ext cx="4279392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 code · result tables · figures · PPT · talk script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1292840" y="647395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MSE803 Data Analytics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Beijing Multi-Site Air Quality Insights</dc:title>
  <dc:subject>Week 2 Activity 2 - Beijing Multi-Site Air Quality</dc:subject>
  <dc:creator>Weizhao Tan</dc:creator>
  <cp:lastModifiedBy>Weizhao Tan</cp:lastModifiedBy>
  <cp:revision>1</cp:revision>
  <dcterms:created xsi:type="dcterms:W3CDTF">2026-04-25T22:59:40Z</dcterms:created>
  <dcterms:modified xsi:type="dcterms:W3CDTF">2026-04-25T22:59:40Z</dcterms:modified>
</cp:coreProperties>
</file>