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51c7b9971472e" /><Relationship Type="http://schemas.openxmlformats.org/officeDocument/2006/relationships/extended-properties" Target="/docProps/app.xml" Id="Rf8f7d02f1b0e4896" /><Relationship Type="http://schemas.openxmlformats.org/officeDocument/2006/relationships/officeDocument" Target="/ppt/presentation.xml" Id="Rc608545608e941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cdee2eda9e4e82"/>
  </p:sldMasterIdLst>
  <p:notesMasterIdLst>
    <p:notesMasterId xmlns:r="http://schemas.openxmlformats.org/officeDocument/2006/relationships" r:id="Rcdde956ea7e344f5"/>
  </p:notesMasterIdLst>
  <p:sldIdLst>
    <p:sldId xmlns:r="http://schemas.openxmlformats.org/officeDocument/2006/relationships" id="256" r:id="R183285db298d470a"/>
    <p:sldId xmlns:r="http://schemas.openxmlformats.org/officeDocument/2006/relationships" id="257" r:id="R29a98e7f736a4939"/>
    <p:sldId xmlns:r="http://schemas.openxmlformats.org/officeDocument/2006/relationships" id="258" r:id="R889f53a94d70493d"/>
    <p:sldId xmlns:r="http://schemas.openxmlformats.org/officeDocument/2006/relationships" id="259" r:id="Rb742bd8e622e4a59"/>
    <p:sldId xmlns:r="http://schemas.openxmlformats.org/officeDocument/2006/relationships" id="260" r:id="R622e2ba0db3e4cff"/>
    <p:sldId xmlns:r="http://schemas.openxmlformats.org/officeDocument/2006/relationships" id="261" r:id="Rdc56ee8c790849c5"/>
    <p:sldId xmlns:r="http://schemas.openxmlformats.org/officeDocument/2006/relationships" id="262" r:id="R70c0d9c60b5e4950"/>
    <p:sldId xmlns:r="http://schemas.openxmlformats.org/officeDocument/2006/relationships" id="263" r:id="R2c4a833901424125"/>
    <p:sldId xmlns:r="http://schemas.openxmlformats.org/officeDocument/2006/relationships" id="264" r:id="Rf87eba959e034780"/>
    <p:sldId xmlns:r="http://schemas.openxmlformats.org/officeDocument/2006/relationships" id="265" r:id="Re031e71a952a4112"/>
    <p:sldId xmlns:r="http://schemas.openxmlformats.org/officeDocument/2006/relationships" id="266" r:id="Ra930fb83625442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de448b2a674e17" /><Relationship Type="http://schemas.openxmlformats.org/officeDocument/2006/relationships/slideMaster" Target="/ppt/slideMasters/slideMaster1.xml" Id="R49cdee2eda9e4e82" /><Relationship Type="http://schemas.openxmlformats.org/officeDocument/2006/relationships/notesMaster" Target="/ppt/notesMasters/notesMaster1.xml" Id="Rcdde956ea7e344f5" /><Relationship Type="http://schemas.openxmlformats.org/officeDocument/2006/relationships/presProps" Target="/ppt/presProps.xml" Id="Rd6501564dabd4456" /><Relationship Type="http://schemas.openxmlformats.org/officeDocument/2006/relationships/tableStyles" Target="/ppt/tableStyles.xml" Id="R38975f6272c84af3" /><Relationship Type="http://schemas.openxmlformats.org/officeDocument/2006/relationships/slide" Target="/ppt/slides/slide1.xml" Id="R183285db298d470a" /><Relationship Type="http://schemas.openxmlformats.org/officeDocument/2006/relationships/slide" Target="/ppt/slides/slide2.xml" Id="R29a98e7f736a4939" /><Relationship Type="http://schemas.openxmlformats.org/officeDocument/2006/relationships/slide" Target="/ppt/slides/slide3.xml" Id="R889f53a94d70493d" /><Relationship Type="http://schemas.openxmlformats.org/officeDocument/2006/relationships/slide" Target="/ppt/slides/slide4.xml" Id="Rb742bd8e622e4a59" /><Relationship Type="http://schemas.openxmlformats.org/officeDocument/2006/relationships/slide" Target="/ppt/slides/slide5.xml" Id="R622e2ba0db3e4cff" /><Relationship Type="http://schemas.openxmlformats.org/officeDocument/2006/relationships/slide" Target="/ppt/slides/slide6.xml" Id="Rdc56ee8c790849c5" /><Relationship Type="http://schemas.openxmlformats.org/officeDocument/2006/relationships/slide" Target="/ppt/slides/slide7.xml" Id="R70c0d9c60b5e4950" /><Relationship Type="http://schemas.openxmlformats.org/officeDocument/2006/relationships/slide" Target="/ppt/slides/slide8.xml" Id="R2c4a833901424125" /><Relationship Type="http://schemas.openxmlformats.org/officeDocument/2006/relationships/slide" Target="/ppt/slides/slide9.xml" Id="Rf87eba959e034780" /><Relationship Type="http://schemas.openxmlformats.org/officeDocument/2006/relationships/slide" Target="/ppt/slides/slide10.xml" Id="Re031e71a952a4112" /><Relationship Type="http://schemas.openxmlformats.org/officeDocument/2006/relationships/slide" Target="/ppt/slides/slide11.xml" Id="Ra930fb83625442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76afcc03db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18c8f71364b77" /><Relationship Type="http://schemas.openxmlformats.org/officeDocument/2006/relationships/notesMaster" Target="/ppt/notesMasters/notesMaster1.xml" Id="Rf78d11370fe0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2a2f9c22d4129" /><Relationship Type="http://schemas.openxmlformats.org/officeDocument/2006/relationships/notesMaster" Target="/ppt/notesMasters/notesMaster1.xml" Id="R4976cb574b6b49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2f648f29544b1" /><Relationship Type="http://schemas.openxmlformats.org/officeDocument/2006/relationships/notesMaster" Target="/ppt/notesMasters/notesMaster1.xml" Id="Ra301185e1111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e96403764412c" /><Relationship Type="http://schemas.openxmlformats.org/officeDocument/2006/relationships/notesMaster" Target="/ppt/notesMasters/notesMaster1.xml" Id="R437b306c39e449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9cae6face4c87" /><Relationship Type="http://schemas.openxmlformats.org/officeDocument/2006/relationships/notesMaster" Target="/ppt/notesMasters/notesMaster1.xml" Id="Re8762b5634954f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8df62443b34b42" /><Relationship Type="http://schemas.openxmlformats.org/officeDocument/2006/relationships/notesMaster" Target="/ppt/notesMasters/notesMaster1.xml" Id="R02f9206988e7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29184bc37c42c1" /><Relationship Type="http://schemas.openxmlformats.org/officeDocument/2006/relationships/notesMaster" Target="/ppt/notesMasters/notesMaster1.xml" Id="Rd890daefc4034c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24ed01101409b" /><Relationship Type="http://schemas.openxmlformats.org/officeDocument/2006/relationships/notesMaster" Target="/ppt/notesMasters/notesMaster1.xml" Id="Rbd2941d4eea84d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d6d2f05f2741dd" /><Relationship Type="http://schemas.openxmlformats.org/officeDocument/2006/relationships/notesMaster" Target="/ppt/notesMasters/notesMaster1.xml" Id="R356a5ebab5a048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005435197a48f3" /><Relationship Type="http://schemas.openxmlformats.org/officeDocument/2006/relationships/notesMaster" Target="/ppt/notesMasters/notesMaster1.xml" Id="R40571df107e446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28c8541ef94c75" /><Relationship Type="http://schemas.openxmlformats.org/officeDocument/2006/relationships/notesMaster" Target="/ppt/notesMasters/notesMaster1.xml" Id="Rcd7f0f241623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the objective: build an end-to-end prediction pipeline for monthly airline passengers.</a:t>
            </a:r>
          </a:p>
          <a:p xmlns:a="http://schemas.openxmlformats.org/drawingml/2006/main">
            <a:r>
              <a:t>Mention that five model families are compared using the same train/test period and common evaluation metrics.</a:t>
            </a:r>
          </a:p>
          <a:p xmlns:a="http://schemas.openxmlformats.org/drawingml/2006/main">
            <a:r>
              <a:t>The dataset is small but useful because it contains trend and seasonality, which makes model comparison meaningful.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set expectations for a 10-minute presentation.</a:t>
            </a:r>
          </a:p>
          <a:p xmlns:a="http://schemas.openxmlformats.org/drawingml/2006/main">
            <a:r>
              <a:t>Spend most of the time on EDA, methodology, and the comparison results rather than code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dataset shape: 144 monthly observations, no missing passenger values, and no duplicate months.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distribution is not stationary because passenger numbers increase over the years.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Lag and rolling features were created because past passenger counts are highly informative for future months.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upward trend and the clear separation between training and test periods.</a:t>
            </a:r>
          </a:p>
          <a:p xmlns:a="http://schemas.openxmlformats.org/drawingml/2006/main">
            <a:r>
              <a:t>The last 24 months are difficult because they represent the highest passenger volumes in the dataset.</a:t>
            </a:r>
          </a:p>
          <a:p xmlns:a="http://schemas.openxmlformats.org/drawingml/2006/main">
            <a:r>
              <a:t>This is why models that cannot extrapolate trend well may perform worse.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repeated mid-year peak is visible across many years.</a:t>
            </a:r>
          </a:p>
          <a:p xmlns:a="http://schemas.openxmlformats.org/drawingml/2006/main">
            <a:r>
              <a:t>This is why pure trend alone is insufficient; month and lag features are needed.</a:t>
            </a:r>
          </a:p>
          <a:p xmlns:a="http://schemas.openxmlformats.org/drawingml/2006/main">
            <a:r>
              <a:t>Mention that feature engineering converts the time series into a supervised learning format for regression and neural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pipeline from left to right.</a:t>
            </a:r>
          </a:p>
          <a:p xmlns:a="http://schemas.openxmlformats.org/drawingml/2006/main">
            <a:r>
              <a:t>Emphasize that the test split is chronological, not random, because this is forecasting.</a:t>
            </a:r>
          </a:p>
          <a:p xmlns:a="http://schemas.openxmlformats.org/drawingml/2006/main">
            <a:r>
              <a:t>Explain that RMSE and MAE measure absolute error, R2 explains variance captured, and MAPE gives percentage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ranking: ANN is best by RMSE, with RMSE 27.37 and MAPE 4.50%.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that Linear Regression performs well because trend and lag features are highly predictive.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XGBoost performs worse because tree models often struggle to extrapolate beyond the training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black line as the actual values and compare how closely the model lines follow it.</a:t>
            </a:r>
          </a:p>
          <a:p xmlns:a="http://schemas.openxmlformats.org/drawingml/2006/main">
            <a:r>
              <a:t>ANN tracks the shape of the test period most closely overall.</a:t>
            </a:r>
          </a:p>
          <a:p xmlns:a="http://schemas.openxmlformats.org/drawingml/2006/main">
            <a:r>
              <a:t>Peak-month underprediction is still visible, so the result is useful but not perfect.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comparison is not just about the winner.</a:t>
            </a:r>
          </a:p>
          <a:p xmlns:a="http://schemas.openxmlformats.org/drawingml/2006/main">
            <a:r>
              <a:t>ANN wins on metrics, but Linear Regression is easier to explain.</a:t>
            </a:r>
          </a:p>
          <a:p xmlns:a="http://schemas.openxmlformats.org/drawingml/2006/main">
            <a:r>
              <a:t>ARIMA and LSTM are appropriate model families, but this implementation is limited by the short dataset and plain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three key findings: ANN wins, error is around 4.5 percent MAPE, and seasonality is central.</a:t>
            </a:r>
          </a:p>
          <a:p xmlns:a="http://schemas.openxmlformats.org/drawingml/2006/main">
            <a:r>
              <a:t>Recommend using ANN for short-term prediction, with Linear Regression as a transparent baseline.</a:t>
            </a:r>
          </a:p>
          <a:p xmlns:a="http://schemas.openxmlformats.org/drawingml/2006/main">
            <a:r>
              <a:t>For future work, use SARIMA or SARIMAX and test more robust validation if more historical data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by naming the final deliverables: source code, generated outputs, presentation, and supporting documentation.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Remind the audience that the GitHub link should point directly to the project folder.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End with the practical conclusion: ANN is best for this experiment, but SARIMA/SARIMAX is a strong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3d392492e49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74dbcbe8d45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f1d583f5e49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d342985d74e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1d03f2e9d4d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9b94eba2744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c1a469b664a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b503d26944e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ddf978c4047f1" /><Relationship Type="http://schemas.openxmlformats.org/officeDocument/2006/relationships/image" Target="/ppt/media/image.png" Id="Rbef11b38f1604d9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c63ffa83944e1" /><Relationship Type="http://schemas.openxmlformats.org/officeDocument/2006/relationships/image" Target="/ppt/media/image2.png" Id="R3a70709e72e3403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bef11b38f1604d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3a70709e72e3403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f799f56a1945d4" /><Relationship Type="http://schemas.openxmlformats.org/officeDocument/2006/relationships/slideLayout" Target="/ppt/slideLayouts/slideLayout1.xml" Id="Rcfcd30ce53e14c5a" /><Relationship Type="http://schemas.openxmlformats.org/officeDocument/2006/relationships/slideLayout" Target="/ppt/slideLayouts/slideLayout2.xml" Id="R1773cb14b53e4699" /><Relationship Type="http://schemas.openxmlformats.org/officeDocument/2006/relationships/slideLayout" Target="/ppt/slideLayouts/slideLayout3.xml" Id="R23207095c5f44999" /><Relationship Type="http://schemas.openxmlformats.org/officeDocument/2006/relationships/slideLayout" Target="/ppt/slideLayouts/slideLayout4.xml" Id="R24ebf2c720134505" /><Relationship Type="http://schemas.openxmlformats.org/officeDocument/2006/relationships/slideLayout" Target="/ppt/slideLayouts/slideLayout5.xml" Id="R77b68a66241e4c64" /><Relationship Type="http://schemas.openxmlformats.org/officeDocument/2006/relationships/slideLayout" Target="/ppt/slideLayouts/slideLayout6.xml" Id="Raa76bc228e2445b8" /><Relationship Type="http://schemas.openxmlformats.org/officeDocument/2006/relationships/slideLayout" Target="/ppt/slideLayouts/slideLayout7.xml" Id="Rfd22cd14ef734702" /><Relationship Type="http://schemas.openxmlformats.org/officeDocument/2006/relationships/slideLayout" Target="/ppt/slideLayouts/slideLayout8.xml" Id="R4c46a2da2898447d" /><Relationship Type="http://schemas.openxmlformats.org/officeDocument/2006/relationships/slideLayout" Target="/ppt/slideLayouts/slideLayout9.xml" Id="R9ad38581960840ba" /><Relationship Type="http://schemas.openxmlformats.org/officeDocument/2006/relationships/slideLayout" Target="/ppt/slideLayouts/slideLayout10.xml" Id="R42537609ed824a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d30ce53e14c5a"/>
    <p:sldLayoutId xmlns:r="http://schemas.openxmlformats.org/officeDocument/2006/relationships" id="2147483650" r:id="R1773cb14b53e4699"/>
    <p:sldLayoutId xmlns:r="http://schemas.openxmlformats.org/officeDocument/2006/relationships" id="2147483651" r:id="R23207095c5f44999"/>
    <p:sldLayoutId xmlns:r="http://schemas.openxmlformats.org/officeDocument/2006/relationships" id="2147483652" r:id="R24ebf2c720134505"/>
    <p:sldLayoutId xmlns:r="http://schemas.openxmlformats.org/officeDocument/2006/relationships" id="2147483653" r:id="R77b68a66241e4c64"/>
    <p:sldLayoutId xmlns:r="http://schemas.openxmlformats.org/officeDocument/2006/relationships" id="2147483654" r:id="Raa76bc228e2445b8"/>
    <p:sldLayoutId xmlns:r="http://schemas.openxmlformats.org/officeDocument/2006/relationships" id="2147483655" r:id="Rfd22cd14ef734702"/>
    <p:sldLayoutId xmlns:r="http://schemas.openxmlformats.org/officeDocument/2006/relationships" id="2147483656" r:id="R4c46a2da2898447d"/>
    <p:sldLayoutId xmlns:r="http://schemas.openxmlformats.org/officeDocument/2006/relationships" id="2147483657" r:id="R9ad38581960840ba"/>
    <p:sldLayoutId xmlns:r="http://schemas.openxmlformats.org/officeDocument/2006/relationships" id="2147483658" r:id="R42537609ed824ac5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d4ba7638c4a32" /><Relationship Type="http://schemas.openxmlformats.org/officeDocument/2006/relationships/notesSlide" Target="/ppt/notesSlides/notesSlide1.xml" Id="Re33cd64a6fd2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1c182dd4c474e" /><Relationship Type="http://schemas.openxmlformats.org/officeDocument/2006/relationships/notesSlide" Target="/ppt/notesSlides/notesSlide2.xml" Id="R0c1f344f960e49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23c1f90004ee8" /><Relationship Type="http://schemas.openxmlformats.org/officeDocument/2006/relationships/image" Target="/ppt/media/image3.png" Id="R3c76d1e90bb24255" /><Relationship Type="http://schemas.openxmlformats.org/officeDocument/2006/relationships/image" Target="/ppt/media/image4.png" Id="R43cf60aca4d24805" /><Relationship Type="http://schemas.openxmlformats.org/officeDocument/2006/relationships/notesSlide" Target="/ppt/notesSlides/notesSlide3.xml" Id="Ra1c8f5fe8c72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ae8e41edd449a" /><Relationship Type="http://schemas.openxmlformats.org/officeDocument/2006/relationships/chart" Target="/ppt/slides/charts/chart1.xml" Id="R618c97f128a84197" /><Relationship Type="http://schemas.openxmlformats.org/officeDocument/2006/relationships/image" Target="/ppt/media/image5.png" Id="Rba466182af01496b" /><Relationship Type="http://schemas.openxmlformats.org/officeDocument/2006/relationships/notesSlide" Target="/ppt/notesSlides/notesSlide4.xml" Id="R0be73354d58646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4e9647c474e58" /><Relationship Type="http://schemas.openxmlformats.org/officeDocument/2006/relationships/chart" Target="/ppt/slides/charts/chart2.xml" Id="R307deadc2da74096" /><Relationship Type="http://schemas.openxmlformats.org/officeDocument/2006/relationships/image" Target="/ppt/media/image6.png" Id="R35f32e7edcb44ba1" /><Relationship Type="http://schemas.openxmlformats.org/officeDocument/2006/relationships/notesSlide" Target="/ppt/notesSlides/notesSlide5.xml" Id="Rc29e4bb4b6d440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be4e0b3b914fe7" /><Relationship Type="http://schemas.openxmlformats.org/officeDocument/2006/relationships/notesSlide" Target="/ppt/notesSlides/notesSlide6.xml" Id="R60a37aa826a641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a617c2d72412c" /><Relationship Type="http://schemas.openxmlformats.org/officeDocument/2006/relationships/notesSlide" Target="/ppt/notesSlides/notesSlide7.xml" Id="R72f5a1e61012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a930da54941cf" /><Relationship Type="http://schemas.openxmlformats.org/officeDocument/2006/relationships/chart" Target="/ppt/slides/charts/chart3.xml" Id="R31dbd4e2bf3e4e76" /><Relationship Type="http://schemas.openxmlformats.org/officeDocument/2006/relationships/image" Target="/ppt/media/image7.png" Id="R03ec226d7f2e4874" /><Relationship Type="http://schemas.openxmlformats.org/officeDocument/2006/relationships/notesSlide" Target="/ppt/notesSlides/notesSlide8.xml" Id="R2d0accc7fe5844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525ef009c0499b" /><Relationship Type="http://schemas.openxmlformats.org/officeDocument/2006/relationships/notesSlide" Target="/ppt/notesSlides/notesSlide9.xml" Id="R6e41cc41ff9e4e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84facf0f5434595" /><Relationship Type="http://schemas.openxmlformats.org/officeDocument/2006/relationships/notesSlide" Target="/ppt/notesSlides/notesSlide10.xml" Id="R3cf402f7a25249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64210aab154c3d" /><Relationship Type="http://schemas.openxmlformats.org/officeDocument/2006/relationships/notesSlide" Target="/ppt/notesSlides/notesSlide11.xml" Id="R56bfbad75f614c39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Airline Passenger</a:t>
            </a:r>
          </a:p>
          <a:p xmlns:a="http://schemas.openxmlformats.org/drawingml/2006/main">
            <a:r>
              <a:rPr sz="7200"/>
              <a:t>Prediction Pipeline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Linear Regression | XGBoost | ANN</a:t>
            </a:r>
          </a:p>
          <a:p xmlns:a="http://schemas.openxmlformats.org/drawingml/2006/main">
            <a:r>
              <a:rPr sz="2000"/>
              <a:t>LSTM | ARIMA</a:t>
            </a:r>
          </a:p>
          <a:p xmlns:a="http://schemas.openxmlformats.org/drawingml/2006/main">
            <a:r>
              <a:rPr sz="2000"/>
              <a:t>Performance comparison and recommendations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DATA ANALYTICS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WEEK 11 - ACTIVITY 1.1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6A32FBD-471B-0EBA-B741-E0342E7229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6FE9EA6-28D5-24F6-5682-5886DC125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911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Flow</a:t>
            </a:r>
          </a:p>
        </p:txBody>
      </p:sp>
      <p:sp>
        <p:nvSpPr>
          <p:cNvPr id="4" name="Title 2">
            <a:extLst xmlns:a="http://schemas.openxmlformats.org/drawingml/2006/main">
              <a:ext uri="{FF2B5EF4-FFF2-40B4-BE49-F238E27FC236}">
                <a16:creationId xmlns:a16="http://schemas.microsoft.com/office/drawing/2014/main" id="{2F10929B-DEFF-CE26-DEB7-6097A95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44008"/>
            <a:ext cx="5867400" cy="4659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1. Dataset and project objective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2. Data preprocessing and feature engineering</a:t>
            </a:r>
          </a:p>
          <a:p xmlns:a="http://schemas.openxmlformats.org/drawingml/2006/main">
            <a:pPr marL="514350" indent="-514350">
              <a:spcAft>
                <a:spcPts val="800"/>
              </a:spcAft>
              <a:buAutoNum type="arabicPeriod"/>
            </a:pPr>
            <a:r>
              <a:t>3. Exploratory data analysis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4. Prediction methodology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5. Model comparison results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6. Findings, limitations,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3825632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0B8991-15CE-5924-F040-9CC6E6C804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977136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Dataset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Monthly international airline passengers from 1949-01 to 1960-12.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Objective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Predict passenger counts for the last 24 months and compare five models fairly.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Preprocessing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Parsed Month as a datetime, sorted chronologically, checked duplicates and missing values, then created lag, rolling, trend, and seasonal features.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60879D-9A12-E66E-63A7-9EAE035EDE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64CA8E-885C-5948-3B1F-1E7285BD2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Dataset Understanding and Preparation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77EF8F-7D2D-B0A4-22FC-0DFD48E5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053458-0312-2074-FD20-BF977E2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368FE714-E23E-EF23-52EC-6BCED49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256" y="4204277"/>
            <a:ext cx="2145400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Distribution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Passenger counts are right-skewed because demand grows over time.</a:t>
            </a:r>
          </a:p>
        </p:txBody>
      </p:sp>
      <p:sp>
        <p:nvSpPr>
          <p:cNvPr id="5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B866A88-0792-644A-55AC-C2F1988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210" y="4204277"/>
            <a:ext cx="2149303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Key features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Lag-12 and rolling features capture yearly seasonality and recent demand.</a:t>
            </a:r>
          </a:p>
        </p:txBody>
      </p:sp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6d1e90bb24255"/>
          <a:stretch xmlns:a="http://schemas.openxmlformats.org/drawingml/2006/main"/>
        </p:blipFill>
        <p:spPr>
          <a:xfrm xmlns:a="http://schemas.openxmlformats.org/drawingml/2006/main">
            <a:off x="6457950" y="2270125"/>
            <a:ext cx="2247900" cy="14986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f60aca4d24805"/>
          <a:stretch xmlns:a="http://schemas.openxmlformats.org/drawingml/2006/main"/>
        </p:blipFill>
        <p:spPr>
          <a:xfrm xmlns:a="http://schemas.openxmlformats.org/drawingml/2006/main">
            <a:off x="9474654" y="2209800"/>
            <a:ext cx="2081893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</p:spTree>
    <p:extLst>
      <p:ext uri="{BB962C8B-B14F-4D97-AF65-F5344CB8AC3E}">
        <p14:creationId xmlns:p14="http://schemas.microsoft.com/office/powerpoint/2010/main" val="9070364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8DB759-9AE5-E6B9-B76C-E329FE2462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EDA: Trend and Train/Test Split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144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raw records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1949-01 to 1960-12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test months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from 1959-01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C43755-957A-12EE-615F-F99E996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788EE4-D0CC-A10B-FC9E-1FB3B83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63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Trend insight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Passenger demand rises strongly over the 12-year period. The final 24 months are held out as the test set, so models must predict into the highest-demand part of the series.</a:t>
            </a:r>
          </a:p>
        </p:txBody>
      </p:sp>
      <p:graphicFrame>
        <p:nvGraphicFramePr>
          <p:cNvPr id="55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8c97f128a84197"/>
          </a:graphicData>
        </a:graphic>
      </p:graphicFrame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66182af01496b"/>
          <a:stretch xmlns:a="http://schemas.openxmlformats.org/drawingml/2006/main"/>
        </p:blipFill>
        <p:spPr>
          <a:xfrm xmlns:a="http://schemas.openxmlformats.org/drawingml/2006/main">
            <a:off x="638175" y="2490788"/>
            <a:ext cx="5124450" cy="2562225"/>
          </a:xfrm>
          <a:prstGeom xmlns:a="http://schemas.openxmlformats.org/drawingml/2006/main" prst="roundRect">
            <a:avLst>
              <a:gd name="adj" fmla="val 1515"/>
            </a:avLst>
          </a:prstGeom>
        </p:spPr>
      </p:pic>
    </p:spTree>
    <p:extLst>
      <p:ext uri="{BB962C8B-B14F-4D97-AF65-F5344CB8AC3E}">
        <p14:creationId xmlns:p14="http://schemas.microsoft.com/office/powerpoint/2010/main" val="4318424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D38D868-3ADE-676B-438C-29D7611110B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17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78F6A60-947D-E6BF-D14C-3BCF6C2DA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EDA: Seasonality Pattern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6924B0-E252-6F41-AEF6-707576EE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686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Jul-Aug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6FBCDC5-76EC-145C-18F3-9CE37FE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typical seasonal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peak period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F99D628-85E5-7316-AD95-3EE427B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Lag-12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B7D59C4-643D-649E-C83F-B879BFF2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captures yearly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pattern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E63CD2B-5701-6476-A7B4-22B60FF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6CDAE5-C90E-598F-EF23-9C2405A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0D826E-5909-476F-F491-0FBCE01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D234CE49-8AE1-9C3B-D7C5-6240A6E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28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Seasonality insight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Passenger demand repeatedly peaks in the middle of each year. The feature set therefore includes month, quarter, sine/cosine seasonality, lag-12, and rolling summaries.</a:t>
            </a:r>
          </a:p>
        </p:txBody>
      </p:sp>
      <p:graphicFrame>
        <p:nvGraphicFramePr>
          <p:cNvPr id="55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7deadc2da74096"/>
          </a:graphicData>
        </a:graphic>
      </p:graphicFrame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32e7edcb44ba1"/>
          <a:stretch xmlns:a="http://schemas.openxmlformats.org/drawingml/2006/main"/>
        </p:blipFill>
        <p:spPr>
          <a:xfrm xmlns:a="http://schemas.openxmlformats.org/drawingml/2006/main">
            <a:off x="638175" y="2374323"/>
            <a:ext cx="5124450" cy="2795155"/>
          </a:xfrm>
          <a:prstGeom xmlns:a="http://schemas.openxmlformats.org/drawingml/2006/main" prst="roundRect">
            <a:avLst>
              <a:gd name="adj" fmla="val 1515"/>
            </a:avLst>
          </a:prstGeom>
        </p:spPr>
      </p:pic>
    </p:spTree>
    <p:extLst>
      <p:ext uri="{BB962C8B-B14F-4D97-AF65-F5344CB8AC3E}">
        <p14:creationId xmlns:p14="http://schemas.microsoft.com/office/powerpoint/2010/main" val="766153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Train and compare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Fit Linear Regression, XGBoost, ANN, LSTM, and ARIMA; evaluate with RMSE, MAE, R2, and MAPE.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Models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Engineer features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Create trend, month, quarter, sine/cosine seasonality, lags, and rolling statistics.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Pipeline Methodology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Prepare data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Load CSV, parse dates, validate quality, sort monthly records, and split by time.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ABB6C87-C52B-3F11-5554-E7FE5D65E5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709CCEE-3EDC-7C6A-83E6-F3B9811F1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Model Comparison Results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A18C159-1C68-49B0-2B79-A5EBCE9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4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Lower RMSE, MAE, and MAPE are better; higher R2 is better. ANN performed best after scaling both inputs and target values. Linear Regression remained the strongest interpretable baseline.</a:t>
            </a:r>
          </a:p>
        </p:txBody>
      </p:sp>
      <p:graphicFrame>
        <p:nvGraphicFramePr>
          <p:cNvPr id="539" name="Table 4"/>
          <p:cNvGraphicFramePr/>
          <p:nvPr/>
        </p:nvGraphicFramePr>
        <p:xfrm>
          <a:off xmlns:a="http://schemas.openxmlformats.org/drawingml/2006/main" x="400938" y="2374900"/>
          <a:ext xmlns:a="http://schemas.openxmlformats.org/drawingml/2006/main" cx="11404602" cy="361950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628"/>
                <a:gridCol w="870886"/>
                <a:gridCol w="870886"/>
                <a:gridCol w="870886"/>
                <a:gridCol w="870886"/>
                <a:gridCol w="870886"/>
                <a:gridCol w="870886"/>
                <a:gridCol w="870886"/>
                <a:gridCol w="870886"/>
                <a:gridCol w="870886"/>
              </a:tblGrid>
              <a:tr h="452438">
                <a:tc>
                  <a:txBody>
                    <a:bodyPr/>
                    <a:lstStyle/>
                    <a:p>
                      <a:r>
                        <a:rPr sz="105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R2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MAPE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27.37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20.08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0.866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4.50%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Regression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42.12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39.01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0.682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8.86%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64.74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56.07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0.248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11.81%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ARIMA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88.16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64.01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-0.394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12.56%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LSTM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94.96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77.32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-0.617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i="0" u="none" cap="none">
                          <a:ln>
                            <a:noFill/>
                          </a:ln>
                          <a:solidFill>
                            <a:srgbClr val="1118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16.38%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9A6083A-2623-4BD9-9171-E932A080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Best model by RMSE: ANN</a:t>
            </a:r>
          </a:p>
        </p:txBody>
      </p:sp>
    </p:spTree>
    <p:extLst>
      <p:ext uri="{BB962C8B-B14F-4D97-AF65-F5344CB8AC3E}">
        <p14:creationId xmlns:p14="http://schemas.microsoft.com/office/powerpoint/2010/main" val="11379694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8DB759-9AE5-E6B9-B76C-E329FE2462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vs Predicted Values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27.37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ANN RMSE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lowest test error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4.50%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ANN MAPE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percentage error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C43755-957A-12EE-615F-F99E996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788EE4-D0CC-A10B-FC9E-1FB3B83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50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Prediction insight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best models follow the seasonal rises and falls, but errors increase near the highest passenger peaks. This shows the challenge of forecasting into new high-demand levels.</a:t>
            </a:r>
          </a:p>
        </p:txBody>
      </p:sp>
      <p:graphicFrame>
        <p:nvGraphicFramePr>
          <p:cNvPr id="55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dbd4e2bf3e4e76"/>
          </a:graphicData>
        </a:graphic>
      </p:graphicFrame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c226d7f2e4874"/>
          <a:stretch xmlns:a="http://schemas.openxmlformats.org/drawingml/2006/main"/>
        </p:blipFill>
        <p:spPr>
          <a:xfrm xmlns:a="http://schemas.openxmlformats.org/drawingml/2006/main">
            <a:off x="638175" y="2277269"/>
            <a:ext cx="5124450" cy="2989263"/>
          </a:xfrm>
          <a:prstGeom xmlns:a="http://schemas.openxmlformats.org/drawingml/2006/main" prst="roundRect">
            <a:avLst>
              <a:gd name="adj" fmla="val 1515"/>
            </a:avLst>
          </a:prstGeom>
        </p:spPr>
      </p:pic>
    </p:spTree>
    <p:extLst>
      <p:ext uri="{BB962C8B-B14F-4D97-AF65-F5344CB8AC3E}">
        <p14:creationId xmlns:p14="http://schemas.microsoft.com/office/powerpoint/2010/main" val="4318424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Best accuracy after target scaling. Captures nonlinear interactions between trend, lag, rolling, and seasonal features.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20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Linear and XGBoost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Linear Regression is transparent and extrapolates trend. XGBoost captures nonlinear rules but struggles with unseen higher future levels.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ARIMA and LSTM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Statistical and sequence-based baselines are useful, but plain ARIMA and a small LSTM underfit this short seasonal dataset.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Strengths, Limitations, and Performance Differences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Strength: strongest RMSE, MAE, R2, and MAPE.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Limitation: less interpretable and sensitive to scaling.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Use: best short-term accuracy.</a:t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73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Strength: simple baseline explains feature effects.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Limitation: XGBoost does not naturally extrapolate trend.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Use: explainable baseline and comparison.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73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Strength: aligned with time-series forecasting logic.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Limitation: needs seasonal ARIMA or more data for better performance.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Use: statistical benchmark.</a:t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Best overall model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284B6E6-EAE6-BB6F-9352-FADE91E66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21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Forecast accuracy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improvement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Findings and Recommendations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ANN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851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4.50%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6153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SARIMA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CB11E-8CD6-4424-9B71-0EB9EC5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RMSE 27.37 | R2 0.866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ACC1A-4B9A-401A-B576-F21B6AF8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34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Lag and rolling features are essential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54155-B7F5-4AB5-A490-E7DFF790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34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Test seasonal ARIMA and longer history</a:t>
            </a:r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155647AF-FC3D-4B5F-85E8-783B11000D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Source code and outputs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Include run_pipeline.py, requirements.txt, README, raw/processed data, generated tables, and EDA/model charts.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EF2AE366-F535-463E-9E5E-2AF37216A8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23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ED98D1CE-D56E-4F22-A9EE-F4C91BB2623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Presentation slides and notes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Use this deck plus the supporting presenter script to explain the pipeline in about 10 minutes.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5D8B5FCB-2AAB-464F-823A-4EBD733EB6B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Final message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Share the GitHub repository link after pushing. In the talk, focus on why ANN performed best and where the approach is limited.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3AA71142-93A6-4F7F-AA7D-AAC697600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GitHub Submission and 10-Minute Presentation Readiness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0E9340B-315D-4ACF-A826-F4F28B5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FC5EA882-4A7C-425C-A95A-C2B79A6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AEF00A3E-5161-4476-B5E0-3F267D74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2804125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2026-06-21T00:46:10.9830000Z</dcterms:created>
  <dcterms:modified xsi:type="dcterms:W3CDTF">2026-06-21T00:46:10.9830000Z</dcterms:modified>
</coreProperties>
</file>